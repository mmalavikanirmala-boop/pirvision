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789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PIRVISION</a:t>
            </a:r>
          </a:p>
          <a:p>
            <a:pPr>
              <a:defRPr sz="2500">
                <a:solidFill>
                  <a:srgbClr val="BED7F5"/>
                </a:solidFill>
              </a:defRPr>
            </a:pPr>
            <a:r>
              <a:t>Fog Presence Detection 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79476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MALAVIKA M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Class: III BCA A</a:t>
            </a:r>
          </a:p>
          <a:p>
            <a:pPr>
              <a:defRPr sz="1600">
                <a:solidFill>
                  <a:srgbClr val="BED7F5"/>
                </a:solidFill>
              </a:defRPr>
            </a:pPr>
            <a:r>
              <a:t>Machine Learning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6597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 Display"/>
              </a:defRPr>
            </a:pPr>
            <a:r>
              <a:t>1. About the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73152" cy="18288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Project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PIRVISION is a machine learning classification project designed to detect fog presence from PIR sensor readings and environmental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73152" cy="18288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9903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Why Fog Detection?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Early fog detection can support safer monitoring and decision-making in environments where visibility conditions can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3756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37560"/>
            <a:ext cx="73152" cy="18288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0215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Temperature and multiple PIR sensor readings collected over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375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337560"/>
            <a:ext cx="73152" cy="18288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0215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77639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A target class indicating the observed fog-related condition in the dataset.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66597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 Display"/>
              </a:defRPr>
            </a:pPr>
            <a:r>
              <a:t>2. About My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973"/>
                </a:solidFill>
              </a:defRPr>
            </a:pPr>
            <a:r>
              <a:t>Pirvision sensor dataset used for multiclass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832"/>
                </a:solidFill>
                <a:latin typeface="Aptos"/>
              </a:defRPr>
            </a:pPr>
            <a:r>
              <a:t>• Original dataset size: 7,651 rows × 59 columns.</a:t>
            </a:r>
          </a:p>
          <a:p>
            <a:pPr>
              <a:spcAft>
                <a:spcPts val="900"/>
              </a:spcAft>
              <a:defRPr sz="1700">
                <a:solidFill>
                  <a:srgbClr val="232832"/>
                </a:solidFill>
                <a:latin typeface="Aptos"/>
              </a:defRPr>
            </a:pPr>
            <a:r>
              <a:t>• Features include Date, Time, Temperature_F and PIR_1 to PIR_55.</a:t>
            </a:r>
          </a:p>
          <a:p>
            <a:pPr>
              <a:spcAft>
                <a:spcPts val="900"/>
              </a:spcAft>
              <a:defRPr sz="1700">
                <a:solidFill>
                  <a:srgbClr val="232832"/>
                </a:solidFill>
                <a:latin typeface="Aptos"/>
              </a:defRPr>
            </a:pPr>
            <a:r>
              <a:t>• Target column: Label.</a:t>
            </a:r>
          </a:p>
          <a:p>
            <a:pPr>
              <a:spcAft>
                <a:spcPts val="900"/>
              </a:spcAft>
              <a:defRPr sz="1700">
                <a:solidFill>
                  <a:srgbClr val="232832"/>
                </a:solidFill>
                <a:latin typeface="Aptos"/>
              </a:defRPr>
            </a:pPr>
            <a:r>
              <a:t>• Original target distribution: 0 = 6,247; 1 = 833; 3 = 571.</a:t>
            </a:r>
          </a:p>
          <a:p>
            <a:pPr>
              <a:spcAft>
                <a:spcPts val="900"/>
              </a:spcAft>
              <a:defRPr sz="1700">
                <a:solidFill>
                  <a:srgbClr val="232832"/>
                </a:solidFill>
                <a:latin typeface="Aptos"/>
              </a:defRPr>
            </a:pPr>
            <a:r>
              <a:t>• Missing values: 0. Duplicate rows: 0.</a:t>
            </a:r>
          </a:p>
          <a:p>
            <a:pPr>
              <a:spcAft>
                <a:spcPts val="900"/>
              </a:spcAft>
              <a:defRPr sz="1700">
                <a:solidFill>
                  <a:srgbClr val="232832"/>
                </a:solidFill>
                <a:latin typeface="Aptos"/>
              </a:defRPr>
            </a:pPr>
            <a:r>
              <a:t>• After Date/Time feature extraction, the modeling table contains 62 input features + target.</a:t>
            </a:r>
          </a:p>
        </p:txBody>
      </p:sp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212080" cy="30827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66597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 Display"/>
              </a:defRPr>
            </a:pPr>
            <a:r>
              <a:t>3. EDA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5349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73152" cy="100584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07592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1. Statistical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983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info(), describe(), shape,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43000"/>
            <a:ext cx="5349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73152" cy="100584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07592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2. 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983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Missing values and duplicate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77440"/>
            <a:ext cx="5349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77440"/>
            <a:ext cx="73152" cy="100584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42032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3. 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4983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Correlation matrix and heatmap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377440"/>
            <a:ext cx="5349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377440"/>
            <a:ext cx="73152" cy="100584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542032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4. 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17520"/>
            <a:ext cx="4983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Label Encoding for target; no unnecessary OHE for numeric PIR inputs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80"/>
            <a:ext cx="5349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611880"/>
            <a:ext cx="73152" cy="100584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76472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5. Outliers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51960"/>
            <a:ext cx="4983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Box plot + IQR clipping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611880"/>
            <a:ext cx="5349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611880"/>
            <a:ext cx="73152" cy="100584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776472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6. Class 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251960"/>
            <a:ext cx="4983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SMOTE applied to training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846320"/>
            <a:ext cx="5349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4846320"/>
            <a:ext cx="73152" cy="1005840"/>
          </a:xfrm>
          <a:prstGeom prst="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10912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7. Feature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86400"/>
            <a:ext cx="4983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SelectKBest with ANOVA F-test; top 25 features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846320"/>
            <a:ext cx="5349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846320"/>
            <a:ext cx="73152" cy="1005840"/>
          </a:xfrm>
          <a:prstGeom prst="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010912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8. Skewness &amp; Scaling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486400"/>
            <a:ext cx="4983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Yeo-Johnson transformation + StandardScaler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0" y="666597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 Display"/>
              </a:defRPr>
            </a:pPr>
            <a:r>
              <a:t>4. Train–Test Split &amp; Data Preparation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73152" cy="141732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075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Training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80% = 6,120 samples</a:t>
            </a:r>
            <a:br/>
            <a:r>
              <a:t>Used to learn model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430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143000"/>
            <a:ext cx="73152" cy="141732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3075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Testing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20% = 1,531 samples</a:t>
            </a:r>
            <a:br/>
            <a:r>
              <a:t>Used only for final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430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143000"/>
            <a:ext cx="73152" cy="141732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075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Split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83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Stratified split</a:t>
            </a:r>
            <a:br/>
            <a:r>
              <a:t>Random state = 42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260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926080"/>
            <a:ext cx="73152" cy="18288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SMOTE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66160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Training data was balanced using SMOTE. Each class in the resampled training set contains 4,997 samples, giving 14,991 training samples.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73152" cy="18288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09067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Feature Selection &amp;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66160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SelectKBest reduced the inputs to 25 relevant features. Yeo-Johnson transformation handled skewness, followed by StandardScaler.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666597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 Display"/>
              </a:defRPr>
            </a:pPr>
            <a:r>
              <a:t>5. Machine Learning Algorithms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73152" cy="132588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075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Linear multiclass classifier used as a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4300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143000"/>
            <a:ext cx="73152" cy="132588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3075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Decision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Rule-based tree model for nonlinear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73152" cy="132588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077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Ensemble of decision trees; strong for complex sensor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4320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743200"/>
            <a:ext cx="73152" cy="132588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9077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K-Nearest Neighbors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832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Classifies using similarity to nearby training samples.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4340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343400"/>
            <a:ext cx="73152" cy="132588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079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Support Vector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83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Finds a separating decision boundary using an RBF kernel.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666597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 Display"/>
              </a:defRPr>
            </a:pPr>
            <a:r>
              <a:t>6. Evaluation Metrics &amp; Results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583680" cy="365554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69480" y="1325880"/>
          <a:ext cx="4297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536"/>
                <a:gridCol w="859536"/>
                <a:gridCol w="859536"/>
                <a:gridCol w="859536"/>
                <a:gridCol w="859536"/>
              </a:tblGrid>
              <a:tr h="5791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1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99.22%</a:t>
                      </a:r>
                    </a:p>
                  </a:txBody>
                  <a:tcPr>
                    <a:solidFill>
                      <a:srgbClr val="E1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99.26%</a:t>
                      </a:r>
                    </a:p>
                  </a:txBody>
                  <a:tcPr>
                    <a:solidFill>
                      <a:srgbClr val="E1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99.22%</a:t>
                      </a:r>
                    </a:p>
                  </a:txBody>
                  <a:tcPr>
                    <a:solidFill>
                      <a:srgbClr val="E1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99.23%</a:t>
                      </a:r>
                    </a:p>
                  </a:txBody>
                  <a:tcPr>
                    <a:solidFill>
                      <a:srgbClr val="E1F0E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99.04%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98.97%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98.84%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98.40%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832"/>
                          </a:solidFill>
                        </a:defRPr>
                      </a:pPr>
                      <a:r>
                        <a:t>98.31%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69480" y="498348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232832"/>
                </a:solidFill>
                <a:latin typeface="Aptos"/>
              </a:defRPr>
            </a:pPr>
            <a:r>
              <a:t>• Accuracy: overall correct predictions.</a:t>
            </a:r>
          </a:p>
          <a:p>
            <a:pPr>
              <a:spcAft>
                <a:spcPts val="900"/>
              </a:spcAft>
              <a:defRPr sz="1200">
                <a:solidFill>
                  <a:srgbClr val="232832"/>
                </a:solidFill>
                <a:latin typeface="Aptos"/>
              </a:defRPr>
            </a:pPr>
            <a:r>
              <a:t>• Precision: correctness of positive/class predictions.</a:t>
            </a:r>
          </a:p>
          <a:p>
            <a:pPr>
              <a:spcAft>
                <a:spcPts val="900"/>
              </a:spcAft>
              <a:defRPr sz="1200">
                <a:solidFill>
                  <a:srgbClr val="232832"/>
                </a:solidFill>
                <a:latin typeface="Aptos"/>
              </a:defRPr>
            </a:pPr>
            <a:r>
              <a:t>• Recall: ability to identify actual class samples.</a:t>
            </a:r>
          </a:p>
          <a:p>
            <a:pPr>
              <a:spcAft>
                <a:spcPts val="900"/>
              </a:spcAft>
              <a:defRPr sz="1200">
                <a:solidFill>
                  <a:srgbClr val="232832"/>
                </a:solidFill>
                <a:latin typeface="Aptos"/>
              </a:defRPr>
            </a:pPr>
            <a:r>
              <a:t>• F1-score: balance between precision and recall.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66597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 Display"/>
              </a:defRPr>
            </a:pPr>
            <a:r>
              <a:t>7. Best Performing Algorithm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73152" cy="1417320"/>
          </a:xfrm>
          <a:prstGeom prst="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0759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Winner: 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Best overall result with 99.22% accuracy and 99.23% F1-score.</a:t>
            </a:r>
          </a:p>
        </p:txBody>
      </p:sp>
      <p:pic>
        <p:nvPicPr>
          <p:cNvPr id="7" name="Picture 6" descr="rf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438912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14300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1143000"/>
            <a:ext cx="73152" cy="18288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307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Why Random Forest Performed Best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78308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The ensemble combines multiple decision trees, which helps capture nonlinear relationships among the PIR sensor features while reducing the weakness of relying on a single tree.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291840"/>
            <a:ext cx="5394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3291840"/>
            <a:ext cx="73152" cy="1600200"/>
          </a:xfrm>
          <a:prstGeom prst="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34564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Test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931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Accuracy: 99.22%</a:t>
            </a:r>
            <a:br/>
            <a:r>
              <a:t>Precision: 99.26%</a:t>
            </a:r>
            <a:br/>
            <a:r>
              <a:t>Recall: 99.22%</a:t>
            </a:r>
            <a:br/>
            <a:r>
              <a:t>F1-score: 99.23%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5166360"/>
            <a:ext cx="53949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0" y="5166360"/>
            <a:ext cx="73152" cy="73152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533095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Confusion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5806440"/>
            <a:ext cx="5029200" cy="-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Most test samples were classified correctly, with very few class confusions.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66597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 Display"/>
              </a:defRPr>
            </a:pPr>
            <a:r>
              <a:t>8. 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0759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PIRVISION demonstrates that PIR sensor and temperature features can be used effectively for fog-presence classification. After EDA, balancing, feature selection and scaling, Random Forest achieved the best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73152" cy="1828800"/>
          </a:xfrm>
          <a:prstGeom prst="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0759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Key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Random Forest achieved 99.22% accuracy on the held-out test set, outperforming SVM, Logistic Regression, KNN and Decision Tree in this experiment.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375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37560"/>
            <a:ext cx="73152" cy="18288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0215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• Real-time sensor integration</a:t>
            </a:r>
            <a:br/>
            <a:r>
              <a:t>• Live fog alerts</a:t>
            </a:r>
            <a:br/>
            <a:r>
              <a:t>• Larger and more varied weather datasets</a:t>
            </a:r>
            <a:br/>
            <a:r>
              <a:t>• Model deployment for practical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375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337560"/>
            <a:ext cx="73152" cy="18288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0215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77639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MALAVIKA M</a:t>
            </a:r>
            <a:br/>
            <a:r>
              <a:t>III BCA A</a:t>
            </a:r>
            <a:br/>
            <a:r>
              <a:t>PIRVISION – Fog Presence Detection</a:t>
            </a:r>
            <a:br/>
            <a:br/>
            <a:r>
              <a:t>Questions?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66597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